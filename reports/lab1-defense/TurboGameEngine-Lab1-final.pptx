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3351cd415458d" /><Relationship Type="http://schemas.openxmlformats.org/officeDocument/2006/relationships/extended-properties" Target="/docProps/app.xml" Id="Red605c032c3941a1" /><Relationship Type="http://schemas.openxmlformats.org/officeDocument/2006/relationships/officeDocument" Target="/ppt/presentation.xml" Id="Ra4198e6714ca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91670a81b54f7a"/>
  </p:sldMasterIdLst>
  <p:notesMasterIdLst>
    <p:notesMasterId xmlns:r="http://schemas.openxmlformats.org/officeDocument/2006/relationships" r:id="Rdb201f999ee84079"/>
  </p:notesMasterIdLst>
  <p:sldIdLst>
    <p:sldId xmlns:r="http://schemas.openxmlformats.org/officeDocument/2006/relationships" id="256" r:id="Rc83f771869204b75"/>
    <p:sldId xmlns:r="http://schemas.openxmlformats.org/officeDocument/2006/relationships" id="257" r:id="R29254bc5b8cc49c7"/>
    <p:sldId xmlns:r="http://schemas.openxmlformats.org/officeDocument/2006/relationships" id="258" r:id="Ra1d304d01aaf4258"/>
    <p:sldId xmlns:r="http://schemas.openxmlformats.org/officeDocument/2006/relationships" id="259" r:id="R297a603754414e71"/>
    <p:sldId xmlns:r="http://schemas.openxmlformats.org/officeDocument/2006/relationships" id="260" r:id="R0d3fd0a29c8b4a9c"/>
    <p:sldId xmlns:r="http://schemas.openxmlformats.org/officeDocument/2006/relationships" id="261" r:id="Rf54d9c153c484e37"/>
    <p:sldId xmlns:r="http://schemas.openxmlformats.org/officeDocument/2006/relationships" id="262" r:id="R4dfc93bd1a7b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4e2cc49c641b9" /><Relationship Type="http://schemas.openxmlformats.org/officeDocument/2006/relationships/slideMaster" Target="/ppt/slideMasters/slideMaster1.xml" Id="Rd091670a81b54f7a" /><Relationship Type="http://schemas.openxmlformats.org/officeDocument/2006/relationships/notesMaster" Target="/ppt/notesMasters/notesMaster1.xml" Id="Rdb201f999ee84079" /><Relationship Type="http://schemas.openxmlformats.org/officeDocument/2006/relationships/presProps" Target="/ppt/presProps.xml" Id="R83f6565b95634f25" /><Relationship Type="http://schemas.openxmlformats.org/officeDocument/2006/relationships/tableStyles" Target="/ppt/tableStyles.xml" Id="Rb68b5db456d640ea" /><Relationship Type="http://schemas.openxmlformats.org/officeDocument/2006/relationships/slide" Target="/ppt/slides/slide1.xml" Id="Rc83f771869204b75" /><Relationship Type="http://schemas.openxmlformats.org/officeDocument/2006/relationships/slide" Target="/ppt/slides/slide2.xml" Id="R29254bc5b8cc49c7" /><Relationship Type="http://schemas.openxmlformats.org/officeDocument/2006/relationships/slide" Target="/ppt/slides/slide3.xml" Id="Ra1d304d01aaf4258" /><Relationship Type="http://schemas.openxmlformats.org/officeDocument/2006/relationships/slide" Target="/ppt/slides/slide4.xml" Id="R297a603754414e71" /><Relationship Type="http://schemas.openxmlformats.org/officeDocument/2006/relationships/slide" Target="/ppt/slides/slide5.xml" Id="R0d3fd0a29c8b4a9c" /><Relationship Type="http://schemas.openxmlformats.org/officeDocument/2006/relationships/slide" Target="/ppt/slides/slide6.xml" Id="Rf54d9c153c484e37" /><Relationship Type="http://schemas.openxmlformats.org/officeDocument/2006/relationships/slide" Target="/ppt/slides/slide7.xml" Id="R4dfc93bd1a7b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e15558a21f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f6692d7ab413f" /><Relationship Type="http://schemas.openxmlformats.org/officeDocument/2006/relationships/notesMaster" Target="/ppt/notesMasters/notesMaster1.xml" Id="R9f6072df0d7f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466cdf2b114fa2" /><Relationship Type="http://schemas.openxmlformats.org/officeDocument/2006/relationships/notesMaster" Target="/ppt/notesMasters/notesMaster1.xml" Id="R145f3ea6e66a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ac383d46d5430e" /><Relationship Type="http://schemas.openxmlformats.org/officeDocument/2006/relationships/notesMaster" Target="/ppt/notesMasters/notesMaster1.xml" Id="Rced5d8384f58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65d8fe74c422c" /><Relationship Type="http://schemas.openxmlformats.org/officeDocument/2006/relationships/notesMaster" Target="/ppt/notesMasters/notesMaster1.xml" Id="R82c0c7d9b59d42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203e90b0a5409f" /><Relationship Type="http://schemas.openxmlformats.org/officeDocument/2006/relationships/notesMaster" Target="/ppt/notesMasters/notesMaster1.xml" Id="R32ad1a7196b5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c5168c7e61405d" /><Relationship Type="http://schemas.openxmlformats.org/officeDocument/2006/relationships/notesMaster" Target="/ppt/notesMasters/notesMaster1.xml" Id="Rac0e1ec89bc84e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204062c0a4403" /><Relationship Type="http://schemas.openxmlformats.org/officeDocument/2006/relationships/notesMaster" Target="/ppt/notesMasters/notesMaster1.xml" Id="Rec2888854aec4d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0:00–0:20. Мы выбрали enkiTS как допустимую библиотеку, интегрировали единый JobSystem в Application и перенесли загрузчик. Вторая задача — подготовка мировых матриц RenderSystem. Согласование выбора в MM должно быть получено отдельно; код не заменяет согласование.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0:20–0:45. Application владеет пулом; четыре worker-потока плюс помощь главного потока на wait. enkiTS даёт work stealing и приоритеты; наш фасад даёт dispatch, parallelFor, зависимости и обработку ошибок. Snapshot — массив ID, а не копия World. Между gather и join World неизменяем. GPU API не вызывается из jobs.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0:45–1:05. Показываем live loading: placeholders сменяются реальными ресурсами. CPU file/decode выполняется через общий scheduler. Worker публикует completion release/acquire; main pump выполняет максимум один finalize за кадр. Две миллисекунды — мягкий бюджет, один upload нельзя прервать. В очереди максимум восемь запущенных/декодированных ресурсов при четырёх workers, остальное ожидает. Это ограничение количества, не байтов. Exit отменяет backlog, ждёт начатое и отменяет GPU callbacks.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1:05–1:25. Release с символами, fixed camera без ввода и VSync. Каждая сцена меняет только свой toggle. 15 секунд capture; первые три секунды исключаем; диапазон +3..+14 от LAB_RUN_START. A/B порядок чередуется. Статистической значимости при N3 не заявляем. Исходный загрузчик уже был async: sync — контрольная абляция, legacy-pump — новый scheduler с почти неограниченным pump, не старый executable. Hardware и SHA в runs.json.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1:25–1:50. В Tracy Compare открываем ecs-before-01/after-01, вводим отдельные абсолютные ranges из summary.json, ищем Render Prepare Transforms. На worker lanes видны Job Render Transforms. Таблица — медиана метрик трёх прогонов, все значения в мс. Не приравниваем ускорение зоны ускорению всего кадра. Worker CPU time нельзя суммировать как wall time кадра.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1:50–2:15. В sync-mode одна большая пауза может не попасть в p99, поэтому показываем max и frames внутри загрузки по Tracy markers. Финальный bounded режим сравнивается также с unbounded-like pump на том же scheduler. Это честный контроль эффекта pump, а не настоящий исторический binary. Кэш диска не сбрасывался, cold IO не заявляется. Мягкий budget не даёт гарантии отсутствия каждого длинного кадра.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reports\lab1\release-verified/summary.json, runs.json, trace.tracy каждого запуска. Исходный код в engine/. Снимок измерений 24.09.2026. N=3 независимых запуска на режим. Медиана метрик прогонов, не объединение всех кадров. 2:15–3:00. Покажите live loading или заранее открытые before/after Tracy, затем тесты и stress-results. Выход с живыми задачами подтверждён pending&gt;0 в логе, не только exit code. 60 секунд — проверенная длительность long session, не бесконечная гарантия. 4 tests passed не доказывают полного отсутствия гонок. Для вопросов: docs/lab1/questions.md. Допфичи: library work stealing, priorities, dependencies, queue plots; собственные fibers/lock-free и runtime RW checker не заявляются. MM approval преподавателя остаётся внешним шагом.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59cb3fe00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76da121d024480" /><Relationship Type="http://schemas.openxmlformats.org/officeDocument/2006/relationships/slideLayout" Target="/ppt/slideLayouts/slideLayout1.xml" Id="Ra11fddc9070b43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1fddc9070b43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3209df0743cb" /><Relationship Type="http://schemas.openxmlformats.org/officeDocument/2006/relationships/notesSlide" Target="/ppt/notesSlides/notesSlide1.xml" Id="R621838a2d9fc4d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4530efb4419c" /><Relationship Type="http://schemas.openxmlformats.org/officeDocument/2006/relationships/notesSlide" Target="/ppt/notesSlides/notesSlide2.xml" Id="R8056ca217a52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44ca320a4ebb" /><Relationship Type="http://schemas.openxmlformats.org/officeDocument/2006/relationships/notesSlide" Target="/ppt/notesSlides/notesSlide3.xml" Id="R2da244f2ed9a4e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e57caacc343b4" /><Relationship Type="http://schemas.openxmlformats.org/officeDocument/2006/relationships/notesSlide" Target="/ppt/notesSlides/notesSlide4.xml" Id="R243198f099dd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adcd4c6c4d80" /><Relationship Type="http://schemas.openxmlformats.org/officeDocument/2006/relationships/notesSlide" Target="/ppt/notesSlides/notesSlide5.xml" Id="R2709a29e046f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bee39b6a646ec" /><Relationship Type="http://schemas.openxmlformats.org/officeDocument/2006/relationships/notesSlide" Target="/ppt/notesSlides/notesSlide6.xml" Id="R1249b4e4166c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42363b8474cdf" /><Relationship Type="http://schemas.openxmlformats.org/officeDocument/2006/relationships/notesSlide" Target="/ppt/notesSlides/notesSlide7.xml" Id="R46f71fc3a8964f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73053-CBDE-4366-A041-ABB339C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ЗАЩИТА ЛАБОРАТОРНОЙ РАБОТЫ №1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81FF8-1709-44BF-BCB9-06A4F006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Job system: реальная работа,</a:t>
            </a:r>
          </a:p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C2EE0-48BD-4C6D-B2E4-C9255F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4C0E3-D32B-45F9-BD87-30FC927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F19FF-6CFB-4886-8CB4-BB48CBF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3,02×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96022-EBB4-478E-B1B6-61959970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2"/>
                </a:solidFill>
                <a:latin typeface="Arial"/>
                <a:ea typeface="Arial"/>
                <a:cs typeface="Arial"/>
              </a:rPr>
              <a:t>ускорение целевой зоны ECS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63B25-5BF8-4D97-A3F2-3975847A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BB2B2-E911-4F62-A144-59D5F69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432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532"/>
                </a:solidFill>
                <a:latin typeface="Arial"/>
                <a:ea typeface="Arial"/>
                <a:cs typeface="Arial"/>
              </a:rPr>
              <a:t>кадров внутри фоновой загрузки¹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2F77B-4C69-4970-B787-79227D4F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Загрузка текстур / моделей + подготовка матриц 4096 объектов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A59D9-268E-44C4-843A-3F7AAF3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¹ Медиана по трём прогонам. В sync-режиме — 0. Все цифры получены из Tracy.</a:t>
            </a:r>
          </a:p>
        </p:txBody>
      </p:sp>
    </p:spTree>
    <p:extLst>
      <p:ext uri="{BB962C8B-B14F-4D97-AF65-F5344CB8AC3E}">
        <p14:creationId xmlns:p14="http://schemas.microsoft.com/office/powerpoint/2010/main" val="523234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278AD-6E51-4A29-8EC1-B4CE3A6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АРХИТЕКТУРА И ГРАНИЦЫ ДОСТУПА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5D3C4-ECDA-4A12-B308-100A470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Один scheduler — две реальные нагрузки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B556A-93CF-4BB3-A525-FB4F7A99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5F12-81D9-48FA-B779-A65F380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667000"/>
                <a:gridCol w="573405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Где выполняется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Доступ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Gather сущностей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Читает World; пишет MeshRenderer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World matrices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Jobs / Normal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Читает World; пишет свой диапазон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Decode PNG / OBJ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Jobs / Low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Файл → собственный CPU payload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Join / GPU submit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Читает матрицы; изменяет GPU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1617-368E-4584-82C0-86D6F561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0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dispatch → Handle   •   dispatchAfter → зависимости   •   wait → помощь пулу</a:t>
            </a:r>
          </a:p>
        </p:txBody>
      </p:sp>
    </p:spTree>
    <p:extLst>
      <p:ext uri="{BB962C8B-B14F-4D97-AF65-F5344CB8AC3E}">
        <p14:creationId xmlns:p14="http://schemas.microsoft.com/office/powerpoint/2010/main" val="2067616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D50AA-9E7E-4C16-9DD9-56B3227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ПУТЬ РЕСУРСА И КОРРЕКТНОЕ ЗАВЕРШЕНИЕ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8E578-4159-434E-80FA-3AD730B7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L1: декодирование не останавливает кадр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CEBF-D3C9-4FF0-B381-0EE9210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9AD68-3D54-4A3B-9F82-1FC7A4B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D9BAD-C7D8-4DAE-B94E-D135F660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Файл + decode  →  completion  →  GPU pump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076575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87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Пока загружается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При выходе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Placeholder + UI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Loading / Ready / Failed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 ресурс за кадр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мягкий бюджет 2 мс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Join CPU jobs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отмена GPU callbacks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Единый JobSystem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вместо отдельного пула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До 8 payload при 4 workers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backpressure по количеству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Ресурсы и renderer</a:t>
                      </a:r>
                    </a:p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уничтожаются после join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C58B8-191F-46F4-87A6-B53CA99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HLSL-компиляция остаётся на main. L2 streaming и L3 copy queue не заявляем.</a:t>
            </a:r>
          </a:p>
        </p:txBody>
      </p:sp>
    </p:spTree>
    <p:extLst>
      <p:ext uri="{BB962C8B-B14F-4D97-AF65-F5344CB8AC3E}">
        <p14:creationId xmlns:p14="http://schemas.microsoft.com/office/powerpoint/2010/main" val="1593366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3C7E-F61C-4CD2-8111-A6A4370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МЕТОДИКА TRACY 0.13.1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70CF-C70A-48F3-809B-EEE74EA3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Одинаковая сцена. Три независимых повтора.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DF8A-F0F0-4084-9D4D-3279FEF4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7A25A-F1B6-4458-8DB3-58D1A050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Зафиксировано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Сборка / сцена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Release + символы; 1280 × 720; VSync off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Повторы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N = 3 на режим; 15 сохранённых трейсов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Прогрев / range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3 с; LAB_RUN_START +3…+14 с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Loading event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На +6 с; дополнительное окно −1…+5 с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Frame median / p95 / p99 / max + целевые зоны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B482-AF21-48BF-9623-570D4C99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CSV → R-7 квантили каждого прогона → медиана метрик между прогонами.</a:t>
            </a:r>
          </a:p>
        </p:txBody>
      </p:sp>
    </p:spTree>
    <p:extLst>
      <p:ext uri="{BB962C8B-B14F-4D97-AF65-F5344CB8AC3E}">
        <p14:creationId xmlns:p14="http://schemas.microsoft.com/office/powerpoint/2010/main" val="828157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FEE59-C1D6-479A-92F9-4CC5004A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РЕЗУЛЬТАТЫ • 4096 ИЕРАРХИЧЕСКИХ ОБЪЕКТОВ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24B2E-2C8A-4267-879E-B6B96417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ECS: время целевой зоны −66,8%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B7BE7-560C-488C-BAAA-4962C96E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ACDFB-9BB1-420D-9A9C-EA5AD58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2343150"/>
                <a:gridCol w="2343150"/>
              </a:tblGrid>
              <a:tr h="5746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Метрика, мс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Serial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Jobs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Prepare Transforms · mean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2,790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0,925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 Frame · median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9,851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9,184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 Frame · p95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12,903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11,817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 Frame · p99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14,400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13,654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Main Frame · max¹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21,740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20,552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D4252-BD12-4400-B2BB-F7B9DB5D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¹ Медиана максимумов прогонов. Реальные mat4 проверены против serial/reference.</a:t>
            </a:r>
          </a:p>
        </p:txBody>
      </p:sp>
    </p:spTree>
    <p:extLst>
      <p:ext uri="{BB962C8B-B14F-4D97-AF65-F5344CB8AC3E}">
        <p14:creationId xmlns:p14="http://schemas.microsoft.com/office/powerpoint/2010/main" val="1559090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0618C-489F-4F0C-A4DC-6572B3E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РЕЗУЛЬТАТЫ • 12 PNG + 4 OBJ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66545-B1DF-45B2-B327-A111A3C2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Загрузка: считаем не только средний FPS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73ABD-B4B5-4FEC-9705-EE78099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FDE53-4930-4B13-921D-B127FB9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143125"/>
                <a:gridCol w="2571750"/>
                <a:gridCol w="2543175"/>
              </a:tblGrid>
              <a:tr h="6172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Метрика¹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Sync²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Async + pump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Async без лимита³</a:t>
                      </a:r>
                    </a:p>
                  </a:txBody>
                  <a:tcPr marL="171450" marR="133350" marT="133350" marB="114300" anchor="ctr">
                    <a:solidFill>
                      <a:srgbClr val="E2F1F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Frame · p99, мс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5,849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7,326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6,652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Frame · max, мс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3410,838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30,003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72,152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Кадров внутри загрузки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738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767</a:t>
                      </a:r>
                    </a:p>
                  </a:txBody>
                  <a:tcPr marL="171450" marR="133350" marT="133350" marB="1143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Загрузка, мс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3409,461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1109,204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532"/>
                          </a:solidFill>
                          <a:latin typeface="Arial"/>
                          <a:ea typeface="Arial"/>
                          <a:cs typeface="Arial"/>
                        </a:rPr>
                        <a:t>1105,976</a:t>
                      </a:r>
                    </a:p>
                  </a:txBody>
                  <a:tcPr marL="171450" marR="133350" marT="133350" marB="114300"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43E6C-EAED-40B3-9AEC-B563575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¹ Медианы по N=3; frame range — событие −1…+5 с. ² Контрольное отключение async.</a:t>
            </a:r>
          </a:p>
          <a:p xmlns:a="http://schemas.openxmlformats.org/drawingml/2006/main">
            <a:pPr>
              <a:defRPr sz="15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³ Тот же scheduler, высокий лимит pump. Исходный движок уже имел async-пул.</a:t>
            </a:r>
          </a:p>
          <a:p xmlns:a="http://schemas.openxmlformats.org/drawingml/2006/main">
            <a:pPr>
              <a:defRPr sz="150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p99 вырос; редкие кадры &gt;50 мс остались. Это не гарантия ровного кадра.</a:t>
            </a:r>
          </a:p>
        </p:txBody>
      </p:sp>
    </p:spTree>
    <p:extLst>
      <p:ext uri="{BB962C8B-B14F-4D97-AF65-F5344CB8AC3E}">
        <p14:creationId xmlns:p14="http://schemas.microsoft.com/office/powerpoint/2010/main" val="17304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46EAE-4BE8-41F1-B82D-B34BAD43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СТАБИЛЬНОСТЬ • АРТЕФАКТЫ •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0C842-D249-41CC-B5E0-4CAADE64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532"/>
                </a:solidFill>
                <a:latin typeface="Arial"/>
                <a:ea typeface="Arial"/>
                <a:cs typeface="Arial"/>
              </a:rPr>
              <a:t>Что показываем на приёмке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1043-79FB-4933-8F01-B8492C5E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TurboGameEngine   /   ЛР 1   /   24.09.2026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AE5B2-F33E-4F8F-9A3F-0E0540C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7F205-4BDB-4986-AF65-5D77A4E2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5D938-2B26-4672-9E56-9CF4358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532"/>
                </a:solidFill>
                <a:latin typeface="Arial"/>
                <a:ea typeface="Arial"/>
                <a:cs typeface="Arial"/>
              </a:rPr>
              <a:t>Release CTest: scheduler, loader, ECS, physics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673E2-C0EA-4D66-AA5D-C33F4F3F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D5ADF-640F-43A9-8823-99B2CE1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5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532"/>
                </a:solidFill>
                <a:latin typeface="Arial"/>
                <a:ea typeface="Arial"/>
                <a:cs typeface="Arial"/>
              </a:rPr>
              <a:t>Live-проверки: ошибки, повторные старты, 60 с, exit с 16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B8A25-547E-4622-8400-94F1CC0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Комплект: docs/lab1/README.md → demo, таблицы, .tracy, сценарий и вопросы.</a:t>
            </a:r>
          </a:p>
          <a:p xmlns:a="http://schemas.openxmlformats.org/drawingml/2006/main">
            <a:pPr>
              <a:defRPr sz="172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До сдачи: согласовать выбранную задачу №2 в MM.</a:t>
            </a:r>
          </a:p>
        </p:txBody>
      </p:sp>
    </p:spTree>
    <p:extLst>
      <p:ext uri="{BB962C8B-B14F-4D97-AF65-F5344CB8AC3E}">
        <p14:creationId xmlns:p14="http://schemas.microsoft.com/office/powerpoint/2010/main" val="856232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2026-09-24T20:00:24.6650000Z</dcterms:created>
  <dcterms:modified xsi:type="dcterms:W3CDTF">2026-09-24T20:00:24.6650000Z</dcterms:modified>
</coreProperties>
</file>